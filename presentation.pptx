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330" r:id="rId4"/>
    <p:sldId id="341" r:id="rId5"/>
    <p:sldId id="342" r:id="rId6"/>
    <p:sldId id="343" r:id="rId7"/>
    <p:sldId id="336" r:id="rId8"/>
    <p:sldId id="344" r:id="rId9"/>
    <p:sldId id="345" r:id="rId10"/>
    <p:sldId id="346" r:id="rId11"/>
    <p:sldId id="347" r:id="rId12"/>
    <p:sldId id="348" r:id="rId13"/>
    <p:sldId id="337" r:id="rId14"/>
    <p:sldId id="349" r:id="rId15"/>
    <p:sldId id="350" r:id="rId16"/>
    <p:sldId id="351" r:id="rId17"/>
    <p:sldId id="352" r:id="rId18"/>
    <p:sldId id="353" r:id="rId19"/>
    <p:sldId id="338" r:id="rId20"/>
    <p:sldId id="354" r:id="rId21"/>
    <p:sldId id="335" r:id="rId22"/>
    <p:sldId id="355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559" autoAdjust="0"/>
  </p:normalViewPr>
  <p:slideViewPr>
    <p:cSldViewPr snapToGrid="0" showGuides="1">
      <p:cViewPr varScale="1">
        <p:scale>
          <a:sx n="80" d="100"/>
          <a:sy n="80" d="100"/>
        </p:scale>
        <p:origin x="61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4737E3-B7EF-C36D-3F40-4539A7E3D4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E193C-EA0C-9D29-0505-F3E10B918A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20A3A-57DF-4E27-A938-C9CB1837192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6EEDC-13CE-28A8-E844-DC63E59B7E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5EE97-51CE-81BD-B5CD-D9814F382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D7A73-8F03-409A-BE31-6E23BC771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942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5AD8A-73DF-4EB2-BCCF-08F085C123A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42390-4565-48BF-B2BF-3ADAF840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17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47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11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D007B-2D23-25BC-3840-8B44EAE5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836506"/>
            <a:ext cx="9598712" cy="1942536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05245-A962-B22A-4DDB-C3B335E6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3151259" cy="686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6ABD9-40D7-AA22-F0C1-650D3C21A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6334744"/>
            <a:ext cx="172531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5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D5A62-614B-2D12-4D2F-EBF4440B0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3836C-3920-B8E1-6601-C5C5446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DB8D-FC27-13BF-343B-91B6E648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C482-F850-8020-F4D8-5B9804E9B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41A13F-9C9A-7798-CC1C-CE523E7B96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AA40A-965E-4A63-9800-522E13E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55E-9533-1F3E-EE1F-400B7CC42A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" r="25323" b="911"/>
          <a:stretch/>
        </p:blipFill>
        <p:spPr>
          <a:xfrm>
            <a:off x="0" y="0"/>
            <a:ext cx="12164007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563A23-3EFF-38EB-A383-397C48DB7BBD}"/>
              </a:ext>
            </a:extLst>
          </p:cNvPr>
          <p:cNvSpPr/>
          <p:nvPr userDrawn="1"/>
        </p:nvSpPr>
        <p:spPr>
          <a:xfrm>
            <a:off x="0" y="0"/>
            <a:ext cx="346364" cy="421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2BE1-F42E-110C-83BF-0ACBAA7288E6}"/>
              </a:ext>
            </a:extLst>
          </p:cNvPr>
          <p:cNvSpPr/>
          <p:nvPr userDrawn="1"/>
        </p:nvSpPr>
        <p:spPr>
          <a:xfrm>
            <a:off x="0" y="4219720"/>
            <a:ext cx="346364" cy="26382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C126F-E72F-28EC-ED77-1AAD54999D83}"/>
              </a:ext>
            </a:extLst>
          </p:cNvPr>
          <p:cNvCxnSpPr/>
          <p:nvPr userDrawn="1"/>
        </p:nvCxnSpPr>
        <p:spPr>
          <a:xfrm>
            <a:off x="914400" y="6280030"/>
            <a:ext cx="186330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35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5CB1EB-93F5-153E-4764-E6319385D9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E9C18-36D4-1EE7-007E-6520B51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AB9D-F129-1D0A-3F18-30A01E3C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8542C-570A-B982-EE49-D7BE0A03C9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EF8714-2E62-9E33-0635-B316E158EC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914BD-BC5D-E404-E474-87D0704C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8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5C9C-15EB-E01C-A21A-71D8E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D6001B-3DD9-17F0-8DD5-9C726E11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F940-4841-13C0-050D-C893010C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BF0-4C09-EE31-F1E7-CE5F45A8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9AE5F-CE26-D80C-F042-86377F8A6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22AC294-F3E3-1F24-5352-81AB4060EB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E6FF1-74DD-DB97-8000-750655DC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3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3521FE-8074-3AEE-08BB-863228D4A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051E9-43BD-C793-F812-C8B2D5C7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F60C-4123-6B76-0C69-9257E088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8564-DC70-E696-0B34-9B756C5B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411CD-ADCF-8C75-C21B-9C8189CDD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D30F-8257-0773-224C-A80FD7DC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B09F-AA67-425D-8664-92FF321FB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9773CB4-AA79-2B87-C13D-416A1743F2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1C8CC7-5103-852D-2638-5633A716F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4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190A96-BFCE-EFBD-CCDA-D7646C83B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0C1EC-5C4F-4BB4-1D23-1BB6D97E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1866-2580-DF83-1482-67DBCC2EA1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6928A15-0FAE-3D7A-BE88-D42ED256B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3D672C-222C-01AE-E0B6-93D6FE1A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92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72897-6F99-23F4-62FA-97B44DE86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B1E94-09C1-BD0F-9C7D-EA10237B8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804975-758F-47E4-93AA-69CA818075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E3F8D-94C6-6090-7F45-0140F68D9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3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1E715-A3C2-1062-72BA-AA6101EFD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3B173-896D-3270-D196-9EA3CDE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532D-27C9-84A8-A21E-F55F5426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9652A-3B8E-D6FE-0C51-AD79BCB1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ED96-33F4-AE85-1943-38B458CA6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CCEDC5-EC77-FE15-57BB-7AAC4B5333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9DCED4-9B61-CDC1-9F25-4418EED7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3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F93E89-EC43-508C-91D2-FE01949F0ED8}"/>
              </a:ext>
            </a:extLst>
          </p:cNvPr>
          <p:cNvSpPr/>
          <p:nvPr userDrawn="1"/>
        </p:nvSpPr>
        <p:spPr>
          <a:xfrm>
            <a:off x="5076825" y="885825"/>
            <a:ext cx="6275387" cy="49831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8168B-13D2-605D-EF13-8460F4341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64C21-F58A-694E-BDDF-DDA23E0F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08F3-14EF-C275-5009-54A6C0948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065837" cy="4737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28B4C-F206-DE18-A860-B2259AF8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8718"/>
            <a:ext cx="3932237" cy="42902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0AA15-91AB-ED53-47E2-7B26433444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2B2FDC-3E39-80E3-47A9-F14E0B22DB6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1E7417-7698-6DAD-F799-E94ADF9A9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2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8AD05-1982-0DF0-DB84-69992E3B4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D3381-9A33-CDE6-A465-39D508A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21791-0209-93DE-4383-04DAF6645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07BB1-3659-8D23-FA89-EA4F4D60D6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A12D315-2DC9-AE52-4820-DBFE1FD82A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A133-188F-1018-3011-9894D275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6172AF-7DA8-B4AB-77FD-93C3CDDBF7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14317-5D4A-3C1D-4027-E4A77FCE8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6995-F9A4-0689-FA08-AC65CBEC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AF2B0-44DA-FC23-665D-75C23412D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BA1BCB-5D76-4F42-E4D9-407309BC6F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00D-4A52-8A7A-BE74-13E98B5D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76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796"/>
            <a:ext cx="12192000" cy="685799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C00A59F-5699-FFEC-05E4-084B9D01F5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362" y="3032254"/>
            <a:ext cx="342035" cy="37623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72AEE09-A5AD-AA06-48E6-898E033BA94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779" y="3926565"/>
            <a:ext cx="307200" cy="384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C56E0-4FF4-A49E-65BE-5A1BF232E4D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0775" y="4758611"/>
            <a:ext cx="405209" cy="40520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DEF55D3-82EA-2BAF-B8BF-6C8795BCED9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9779" y="5676372"/>
            <a:ext cx="3172854" cy="37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4760571" cy="103756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9A0B0B-6155-1E7E-4087-A0497CBDBD27}"/>
              </a:ext>
            </a:extLst>
          </p:cNvPr>
          <p:cNvSpPr txBox="1">
            <a:spLocks/>
          </p:cNvSpPr>
          <p:nvPr userDrawn="1"/>
        </p:nvSpPr>
        <p:spPr>
          <a:xfrm>
            <a:off x="1628774" y="3921043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0731 3111500, 0731 3111501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9BAA4C-4941-92F4-0508-9A086B1782D0}"/>
              </a:ext>
            </a:extLst>
          </p:cNvPr>
          <p:cNvSpPr txBox="1">
            <a:spLocks/>
          </p:cNvSpPr>
          <p:nvPr userDrawn="1"/>
        </p:nvSpPr>
        <p:spPr>
          <a:xfrm>
            <a:off x="1628774" y="4797553"/>
            <a:ext cx="8407400" cy="4052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www.medicaps.ac.in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505A0EF-09C3-A69E-1757-50EC79E03CA8}"/>
              </a:ext>
            </a:extLst>
          </p:cNvPr>
          <p:cNvSpPr txBox="1">
            <a:spLocks/>
          </p:cNvSpPr>
          <p:nvPr userDrawn="1"/>
        </p:nvSpPr>
        <p:spPr>
          <a:xfrm>
            <a:off x="1628774" y="3030245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A.B. Road, </a:t>
            </a:r>
            <a:r>
              <a:rPr lang="en-US" dirty="0" err="1">
                <a:solidFill>
                  <a:schemeClr val="tx1"/>
                </a:solidFill>
              </a:rPr>
              <a:t>Pigdamber</a:t>
            </a:r>
            <a:r>
              <a:rPr lang="en-US" dirty="0">
                <a:solidFill>
                  <a:schemeClr val="tx1"/>
                </a:solidFill>
              </a:rPr>
              <a:t>, Rau, Indore – 453331 </a:t>
            </a:r>
          </a:p>
        </p:txBody>
      </p:sp>
    </p:spTree>
    <p:extLst>
      <p:ext uri="{BB962C8B-B14F-4D97-AF65-F5344CB8AC3E}">
        <p14:creationId xmlns:p14="http://schemas.microsoft.com/office/powerpoint/2010/main" val="168291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AB9EE-315E-A59D-7C69-7297198B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D9C6-79F7-5E4F-5997-18FD9FB8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6A633-AE6E-E900-F6C6-2A97DCD18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3C2-41D7-CC19-A386-62E89AE35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264C-5B54-0AB1-A4A1-B9DE1C36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9A10-5031-416A-8935-40C3BCBA0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047D-7384-7188-237B-A0D05A205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806" y="2514590"/>
            <a:ext cx="11018769" cy="1303267"/>
          </a:xfrm>
        </p:spPr>
        <p:txBody>
          <a:bodyPr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 dirty="0"/>
              <a:t>GEARGENIX</a:t>
            </a:r>
            <a:br>
              <a:rPr lang="en-US" sz="2000" dirty="0"/>
            </a:br>
            <a:r>
              <a:rPr lang="en-IN" sz="3600" b="1" dirty="0"/>
              <a:t>Advanced Campus Gear Control</a:t>
            </a:r>
            <a:endParaRPr lang="en-IN" sz="2000" dirty="0">
              <a:effectLst/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028DC-049A-2F5E-A96B-81D104E86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0782" y="4553767"/>
            <a:ext cx="3611218" cy="1371609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+mn-lt"/>
              </a:rPr>
              <a:t>Guided By </a:t>
            </a:r>
          </a:p>
          <a:p>
            <a:pPr>
              <a:lnSpc>
                <a:spcPct val="50000"/>
              </a:lnSpc>
              <a:spcBef>
                <a:spcPts val="400"/>
              </a:spcBef>
            </a:pPr>
            <a:endParaRPr lang="en-US" sz="2000" b="1" dirty="0">
              <a:latin typeface="+mn-lt"/>
            </a:endParaRPr>
          </a:p>
          <a:p>
            <a:pPr>
              <a:lnSpc>
                <a:spcPct val="0"/>
              </a:lnSpc>
              <a:spcBef>
                <a:spcPts val="600"/>
              </a:spcBef>
            </a:pPr>
            <a:r>
              <a:rPr lang="en-US" sz="1600" dirty="0">
                <a:latin typeface="+mn-lt"/>
              </a:rPr>
              <a:t>Mr. Shantilal </a:t>
            </a:r>
            <a:r>
              <a:rPr lang="en-US" sz="1600" dirty="0" err="1">
                <a:latin typeface="+mn-lt"/>
              </a:rPr>
              <a:t>Bhayal</a:t>
            </a:r>
            <a:endParaRPr lang="en-US" sz="1600" dirty="0">
              <a:latin typeface="+mn-lt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latin typeface="+mn-lt"/>
              </a:rPr>
              <a:t>Assistant Professor</a:t>
            </a:r>
          </a:p>
          <a:p>
            <a:pPr>
              <a:lnSpc>
                <a:spcPct val="50000"/>
              </a:lnSpc>
              <a:spcBef>
                <a:spcPts val="600"/>
              </a:spcBef>
            </a:pPr>
            <a:endParaRPr lang="en-US" sz="1600" dirty="0">
              <a:latin typeface="+mn-lt"/>
            </a:endParaRPr>
          </a:p>
          <a:p>
            <a:pPr>
              <a:lnSpc>
                <a:spcPct val="50000"/>
              </a:lnSpc>
            </a:pPr>
            <a:r>
              <a:rPr lang="en-US" sz="1600" dirty="0">
                <a:latin typeface="+mn-lt"/>
              </a:rPr>
              <a:t>Ms. Amrata Gupta</a:t>
            </a:r>
          </a:p>
          <a:p>
            <a:pPr>
              <a:lnSpc>
                <a:spcPct val="50000"/>
              </a:lnSpc>
            </a:pPr>
            <a:r>
              <a:rPr lang="en-US" sz="1600" dirty="0">
                <a:latin typeface="+mn-lt"/>
              </a:rPr>
              <a:t>Assistant Professor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89F9868-DF8E-435D-A50C-F9F061DAF157}"/>
              </a:ext>
            </a:extLst>
          </p:cNvPr>
          <p:cNvSpPr txBox="1">
            <a:spLocks/>
          </p:cNvSpPr>
          <p:nvPr/>
        </p:nvSpPr>
        <p:spPr>
          <a:xfrm>
            <a:off x="1420881" y="4553767"/>
            <a:ext cx="3332094" cy="1371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n-lt"/>
              </a:rPr>
              <a:t>Presented By</a:t>
            </a:r>
          </a:p>
          <a:p>
            <a:pPr>
              <a:lnSpc>
                <a:spcPct val="0"/>
              </a:lnSpc>
            </a:pPr>
            <a:endParaRPr lang="en-US" sz="2000" b="1" dirty="0">
              <a:latin typeface="+mn-lt"/>
            </a:endParaRPr>
          </a:p>
          <a:p>
            <a:pPr>
              <a:lnSpc>
                <a:spcPct val="0"/>
              </a:lnSpc>
            </a:pPr>
            <a:r>
              <a:rPr lang="en-US" sz="1600" dirty="0">
                <a:latin typeface="+mn-lt"/>
              </a:rPr>
              <a:t>Anushka Tiwari</a:t>
            </a:r>
          </a:p>
          <a:p>
            <a:pPr>
              <a:lnSpc>
                <a:spcPct val="0"/>
              </a:lnSpc>
            </a:pPr>
            <a:endParaRPr lang="en-US" sz="1600" dirty="0">
              <a:latin typeface="+mn-lt"/>
            </a:endParaRPr>
          </a:p>
          <a:p>
            <a:pPr>
              <a:lnSpc>
                <a:spcPct val="0"/>
              </a:lnSpc>
            </a:pPr>
            <a:r>
              <a:rPr lang="en-US" sz="1600" dirty="0">
                <a:latin typeface="+mn-lt"/>
              </a:rPr>
              <a:t>EN23CS301176</a:t>
            </a:r>
          </a:p>
          <a:p>
            <a:pPr>
              <a:lnSpc>
                <a:spcPct val="0"/>
              </a:lnSpc>
            </a:pPr>
            <a:endParaRPr lang="en-US" sz="1600" dirty="0">
              <a:latin typeface="+mn-lt"/>
            </a:endParaRPr>
          </a:p>
          <a:p>
            <a:pPr>
              <a:lnSpc>
                <a:spcPct val="0"/>
              </a:lnSpc>
            </a:pPr>
            <a:endParaRPr lang="en-US" sz="1600" dirty="0">
              <a:latin typeface="+mn-lt"/>
            </a:endParaRPr>
          </a:p>
          <a:p>
            <a:pPr>
              <a:lnSpc>
                <a:spcPct val="0"/>
              </a:lnSpc>
            </a:pPr>
            <a:r>
              <a:rPr lang="en-US" sz="1600" dirty="0">
                <a:latin typeface="+mn-lt"/>
              </a:rPr>
              <a:t>Anshu Agrawal</a:t>
            </a:r>
          </a:p>
          <a:p>
            <a:pPr>
              <a:lnSpc>
                <a:spcPct val="0"/>
              </a:lnSpc>
            </a:pPr>
            <a:endParaRPr lang="en-US" sz="1600" dirty="0">
              <a:latin typeface="+mn-lt"/>
            </a:endParaRPr>
          </a:p>
          <a:p>
            <a:pPr>
              <a:lnSpc>
                <a:spcPct val="0"/>
              </a:lnSpc>
            </a:pPr>
            <a:r>
              <a:rPr lang="en-US" sz="1600" dirty="0">
                <a:latin typeface="+mn-lt"/>
              </a:rPr>
              <a:t>EN23CS301158</a:t>
            </a:r>
          </a:p>
        </p:txBody>
      </p:sp>
    </p:spTree>
    <p:extLst>
      <p:ext uri="{BB962C8B-B14F-4D97-AF65-F5344CB8AC3E}">
        <p14:creationId xmlns:p14="http://schemas.microsoft.com/office/powerpoint/2010/main" val="34045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9BED-9991-4511-8E56-B840D096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2220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F0D38-FA68-09E4-0AA7-0D1685591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9745"/>
            <a:ext cx="11151704" cy="448810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 Introduction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Overall Description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System features</a:t>
            </a:r>
            <a:endParaRPr lang="en-US" sz="2400" dirty="0"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External Interface Requirements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Non Functional Requirements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Future Enhancements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Conclusion</a:t>
            </a:r>
          </a:p>
          <a:p>
            <a:pPr marL="0" indent="0">
              <a:lnSpc>
                <a:spcPct val="200000"/>
              </a:lnSpc>
              <a:buClr>
                <a:srgbClr val="C00000"/>
              </a:buClr>
              <a:buNone/>
            </a:pPr>
            <a:endParaRPr lang="en-US" sz="2500" dirty="0"/>
          </a:p>
          <a:p>
            <a:pPr>
              <a:lnSpc>
                <a:spcPct val="2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9E90-393B-0DDA-3FCB-DE78D4A64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59084E-2A94-93E2-EDDE-32EACBF01643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745F0-24AC-C1FC-FD2F-9E8515345474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980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9BED-9991-4511-8E56-B840D096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4" y="24542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ea typeface="Times New Roman" panose="02020603050405020304" pitchFamily="18" charset="0"/>
              </a:rPr>
              <a:t>Introduction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9E90-393B-0DDA-3FCB-DE78D4A64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59084E-2A94-93E2-EDDE-32EACBF01643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745F0-24AC-C1FC-FD2F-9E8515345474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B18B2-FDCA-480E-B366-01506D516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1.1 Purpose</a:t>
            </a:r>
            <a:endParaRPr lang="en-IN" dirty="0"/>
          </a:p>
          <a:p>
            <a:pPr marL="0" indent="0">
              <a:buNone/>
            </a:pPr>
            <a:r>
              <a:rPr lang="en-IN" sz="2400" dirty="0"/>
              <a:t>The purpose of this Software Requirement Specification (SRS) document is to describe the functional and non-functional requirements of the </a:t>
            </a:r>
            <a:r>
              <a:rPr lang="en-IN" sz="2400" b="1" dirty="0" err="1"/>
              <a:t>GearGenix</a:t>
            </a:r>
            <a:r>
              <a:rPr lang="en-IN" sz="2400" b="1" dirty="0"/>
              <a:t> system</a:t>
            </a:r>
            <a:r>
              <a:rPr lang="en-IN" sz="2400" dirty="0"/>
              <a:t>, an AI-powered equipment management platform designed for college environments. This document provides a detailed description of the system's features, constraints, and operational requirements. It serves as a reference for developers, project supervisors, and stakeholders involved in the development and evaluation of the system.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spcBef>
                <a:spcPts val="0"/>
              </a:spcBef>
              <a:buNone/>
            </a:pPr>
            <a:r>
              <a:rPr lang="en-IN" b="1" dirty="0"/>
              <a:t>1.2 Scope</a:t>
            </a:r>
            <a:endParaRPr lang="en-IN" dirty="0"/>
          </a:p>
          <a:p>
            <a:pPr marL="0" indent="0">
              <a:buNone/>
            </a:pPr>
            <a:r>
              <a:rPr lang="en-IN" sz="2400" dirty="0" err="1"/>
              <a:t>GearGenix</a:t>
            </a:r>
            <a:r>
              <a:rPr lang="en-IN" sz="2400" dirty="0"/>
              <a:t> is an intelligent equipment booking system designed to manage shared resources such as projectors, microphones, laptops, and speakers across multiple clubs and departments within a college.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39522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34E2-4304-6C05-30FA-7FB81342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FCEC0-87CC-BA6F-F11A-C428EF16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4" y="24542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ea typeface="Times New Roman" panose="02020603050405020304" pitchFamily="18" charset="0"/>
              </a:rPr>
              <a:t>Introduction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8C5B2-9707-54B8-E52A-38BDA39C0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92E474-C5F0-C777-3BED-A3AD6BFABFB4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3640B3-779C-1F48-0F40-C04C63C34522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29E80-BF97-4467-D266-083717664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/>
              <a:t>The system enables users to interact through </a:t>
            </a:r>
            <a:r>
              <a:rPr lang="en-IN" sz="2200" b="1" dirty="0"/>
              <a:t>natural language commands</a:t>
            </a:r>
            <a:r>
              <a:rPr lang="en-IN" sz="2200" dirty="0"/>
              <a:t> using a </a:t>
            </a:r>
            <a:r>
              <a:rPr lang="en-IN" sz="2200" b="1" dirty="0"/>
              <a:t>Telegram bot or web interface</a:t>
            </a:r>
            <a:r>
              <a:rPr lang="en-IN" sz="2200" dirty="0"/>
              <a:t>. The AI agent processes user requests, checks equipment availability, detects booking conflicts, and manages the booking lifecycle automatically.</a:t>
            </a:r>
          </a:p>
          <a:p>
            <a:pPr marL="0" indent="0">
              <a:buNone/>
            </a:pPr>
            <a:r>
              <a:rPr lang="en-IN" sz="2200" dirty="0"/>
              <a:t>The system aims to:</a:t>
            </a:r>
          </a:p>
          <a:p>
            <a:r>
              <a:rPr lang="en-IN" sz="2200" dirty="0"/>
              <a:t>Eliminate double bookings</a:t>
            </a:r>
          </a:p>
          <a:p>
            <a:r>
              <a:rPr lang="en-IN" sz="2200" dirty="0"/>
              <a:t>Provide centralized equipment management</a:t>
            </a:r>
          </a:p>
          <a:p>
            <a:r>
              <a:rPr lang="en-IN" sz="2200" dirty="0"/>
              <a:t>Reduce faculty workload</a:t>
            </a:r>
          </a:p>
          <a:p>
            <a:r>
              <a:rPr lang="en-IN" sz="2200" dirty="0"/>
              <a:t>Ensure transparency and accountability</a:t>
            </a:r>
          </a:p>
          <a:p>
            <a:r>
              <a:rPr lang="en-IN" sz="2200" dirty="0"/>
              <a:t>Support real-time equipment tracking</a:t>
            </a:r>
          </a:p>
        </p:txBody>
      </p:sp>
    </p:spTree>
    <p:extLst>
      <p:ext uri="{BB962C8B-B14F-4D97-AF65-F5344CB8AC3E}">
        <p14:creationId xmlns:p14="http://schemas.microsoft.com/office/powerpoint/2010/main" val="792150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4D13F-3A96-780C-E39D-75ED972A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D93A-9D37-9EB3-78F6-6EC7F3790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4" y="24542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ea typeface="Times New Roman" panose="02020603050405020304" pitchFamily="18" charset="0"/>
              </a:rPr>
              <a:t>Introduction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B62B-BE07-603A-1CCA-6933ECC1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6AD56-923B-F32D-91D7-DA24AFFC6FBF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F231F8-4AD8-9F4F-5C47-CB6E38F638F6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1C77D-336D-5314-A765-8EC24D11C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/>
              <a:t>1.3 Definitions, Acronyms and Abbreviations</a:t>
            </a:r>
          </a:p>
          <a:p>
            <a:pPr marL="0" indent="0">
              <a:buNone/>
            </a:pPr>
            <a:r>
              <a:rPr lang="en-IN" sz="2200" dirty="0"/>
              <a:t>Term	   Meaning</a:t>
            </a:r>
          </a:p>
          <a:p>
            <a:pPr marL="0" indent="0">
              <a:buNone/>
            </a:pPr>
            <a:r>
              <a:rPr lang="en-IN" sz="2200" dirty="0"/>
              <a:t>SRS	   Software Requirement Specification</a:t>
            </a:r>
          </a:p>
          <a:p>
            <a:pPr marL="0" indent="0">
              <a:buNone/>
            </a:pPr>
            <a:r>
              <a:rPr lang="en-IN" sz="2200" dirty="0"/>
              <a:t>AI	   Artificial Intelligence</a:t>
            </a:r>
          </a:p>
          <a:p>
            <a:pPr marL="0" indent="0">
              <a:buNone/>
            </a:pPr>
            <a:r>
              <a:rPr lang="en-IN" sz="2200" dirty="0"/>
              <a:t>API	   Application Programming Interface</a:t>
            </a:r>
          </a:p>
          <a:p>
            <a:pPr marL="0" indent="0">
              <a:buNone/>
            </a:pPr>
            <a:r>
              <a:rPr lang="en-IN" sz="2200" dirty="0"/>
              <a:t>DB	   Database</a:t>
            </a:r>
          </a:p>
          <a:p>
            <a:pPr marL="0" indent="0">
              <a:buNone/>
            </a:pPr>
            <a:r>
              <a:rPr lang="en-IN" sz="2200" dirty="0"/>
              <a:t>UI	   User Interface</a:t>
            </a:r>
          </a:p>
          <a:p>
            <a:pPr marL="0" indent="0">
              <a:buNone/>
            </a:pPr>
            <a:r>
              <a:rPr lang="en-IN" sz="2200" dirty="0" err="1"/>
              <a:t>ReAct</a:t>
            </a:r>
            <a:r>
              <a:rPr lang="en-IN" sz="2200" dirty="0"/>
              <a:t>	   Reason + Act AI agent architecture</a:t>
            </a:r>
          </a:p>
          <a:p>
            <a:pPr marL="0" indent="0">
              <a:buNone/>
            </a:pPr>
            <a:r>
              <a:rPr lang="en-IN" sz="2200" dirty="0" err="1"/>
              <a:t>FastAPI</a:t>
            </a:r>
            <a:r>
              <a:rPr lang="en-IN" sz="2200" dirty="0"/>
              <a:t>	   Python framework for backend APIs</a:t>
            </a:r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21389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FB5B-9213-AA71-A3EA-36DE1B11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071F-6861-A1F0-C343-23933D9A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4" y="24542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ea typeface="Times New Roman" panose="02020603050405020304" pitchFamily="18" charset="0"/>
              </a:rPr>
              <a:t>Introduction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160BA-F281-058C-DFE6-53D04E04E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680FAF-4FEA-1629-EDB0-CADC84F2DDF8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0521D8-5D07-708A-1B5C-AE13E61BEE92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C2961-FACE-FFDA-D36C-0A4460875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/>
              <a:t>1.4 Document Overview</a:t>
            </a:r>
            <a:endParaRPr lang="en-IN" sz="2600" dirty="0"/>
          </a:p>
          <a:p>
            <a:pPr marL="0" indent="0">
              <a:buNone/>
            </a:pPr>
            <a:r>
              <a:rPr lang="en-IN" sz="2200" dirty="0"/>
              <a:t>This document provides detailed system requirements for the </a:t>
            </a:r>
            <a:r>
              <a:rPr lang="en-IN" sz="2200" dirty="0" err="1"/>
              <a:t>GearGenix</a:t>
            </a:r>
            <a:r>
              <a:rPr lang="en-IN" sz="2200" dirty="0"/>
              <a:t> platform. It includes system overview, functional requirements, non-functional requirements, system architecture, use cases, and constraints</a:t>
            </a:r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868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3000E-6F6B-513B-21E0-8D260AEB9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8B21-BCA0-B703-E85F-E2B500F5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2220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Overall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EECF1-2218-3A18-FA4E-881E23824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8DFFE7-D75C-AEA2-F499-0F742C05D35D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5F6CBD-78A9-673E-E044-FAF389D568C7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E7A70-E82D-44D8-7DE1-8BBDB6DC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2.1 Product Perspective</a:t>
            </a:r>
            <a:endParaRPr lang="en-IN" dirty="0"/>
          </a:p>
          <a:p>
            <a:pPr marL="0" indent="0">
              <a:buNone/>
            </a:pPr>
            <a:r>
              <a:rPr lang="en-IN" sz="2200" dirty="0" err="1"/>
              <a:t>GearGenix</a:t>
            </a:r>
            <a:r>
              <a:rPr lang="en-IN" sz="2200" dirty="0"/>
              <a:t> is a standalone system designed to replace manual equipment booking methods such as WhatsApp coordination or manual registers.</a:t>
            </a:r>
          </a:p>
          <a:p>
            <a:pPr marL="0" indent="0">
              <a:buNone/>
            </a:pPr>
            <a:r>
              <a:rPr lang="en-IN" sz="2200" dirty="0"/>
              <a:t>The system consists of:</a:t>
            </a:r>
          </a:p>
          <a:p>
            <a:r>
              <a:rPr lang="en-IN" sz="2200" dirty="0"/>
              <a:t>AI conversational agent</a:t>
            </a:r>
          </a:p>
          <a:p>
            <a:r>
              <a:rPr lang="en-IN" sz="2200" dirty="0" err="1"/>
              <a:t>FastAPI</a:t>
            </a:r>
            <a:r>
              <a:rPr lang="en-IN" sz="2200" dirty="0"/>
              <a:t> backend server</a:t>
            </a:r>
          </a:p>
          <a:p>
            <a:r>
              <a:rPr lang="en-IN" sz="2200" dirty="0"/>
              <a:t>PostgreSQL database</a:t>
            </a:r>
          </a:p>
          <a:p>
            <a:r>
              <a:rPr lang="en-IN" sz="2200" dirty="0"/>
              <a:t>Telegram bot interface</a:t>
            </a:r>
          </a:p>
          <a:p>
            <a:r>
              <a:rPr lang="en-IN" sz="2200" dirty="0"/>
              <a:t>React web dashboard</a:t>
            </a:r>
          </a:p>
          <a:p>
            <a:pPr marL="0" indent="0">
              <a:buNone/>
            </a:pPr>
            <a:r>
              <a:rPr lang="en-IN" sz="2200" dirty="0"/>
              <a:t>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489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B1661-7C64-626A-11AE-9AC8B182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34B7-736B-5386-C078-8F0EED66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2220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Overall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CD4F1-3CFA-1335-8B3F-F5D041C47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4A390-CFF9-F0B0-8589-EB76C1B246D8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430A8E-8EFC-C40E-AC2E-770A2AEB5FDB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012BA-925F-5912-B40F-AA37BACF1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2.2 Product Functions </a:t>
            </a:r>
            <a:endParaRPr lang="en-IN" dirty="0"/>
          </a:p>
          <a:p>
            <a:pPr marL="0" indent="0">
              <a:buNone/>
            </a:pPr>
            <a:r>
              <a:rPr lang="en-IN" sz="2200" dirty="0"/>
              <a:t>The major functions of the </a:t>
            </a:r>
            <a:r>
              <a:rPr lang="en-IN" sz="2200" dirty="0" err="1"/>
              <a:t>GearGenix</a:t>
            </a:r>
            <a:r>
              <a:rPr lang="en-IN" sz="2200" dirty="0"/>
              <a:t> system include:</a:t>
            </a:r>
          </a:p>
          <a:p>
            <a:r>
              <a:rPr lang="en-IN" sz="2200" dirty="0"/>
              <a:t>Listing available equipment</a:t>
            </a:r>
          </a:p>
          <a:p>
            <a:r>
              <a:rPr lang="en-IN" sz="2200" dirty="0"/>
              <a:t>Checking equipment availability</a:t>
            </a:r>
          </a:p>
          <a:p>
            <a:r>
              <a:rPr lang="en-IN" sz="2200" dirty="0"/>
              <a:t>Booking equipment</a:t>
            </a:r>
          </a:p>
          <a:p>
            <a:r>
              <a:rPr lang="en-IN" sz="2200" dirty="0"/>
              <a:t>Viewing existing bookings</a:t>
            </a:r>
          </a:p>
          <a:p>
            <a:r>
              <a:rPr lang="en-IN" sz="2200" dirty="0"/>
              <a:t>Cancelling bookings</a:t>
            </a:r>
          </a:p>
          <a:p>
            <a:r>
              <a:rPr lang="en-IN" sz="2200" dirty="0"/>
              <a:t>Returning equipment</a:t>
            </a:r>
          </a:p>
          <a:p>
            <a:r>
              <a:rPr lang="en-IN" sz="2200" dirty="0"/>
              <a:t>Admin equipment monitoring</a:t>
            </a:r>
          </a:p>
          <a:p>
            <a:r>
              <a:rPr lang="en-IN" sz="2200" dirty="0"/>
              <a:t>Conflict detection for overlapping bookings</a:t>
            </a:r>
          </a:p>
        </p:txBody>
      </p:sp>
    </p:spTree>
    <p:extLst>
      <p:ext uri="{BB962C8B-B14F-4D97-AF65-F5344CB8AC3E}">
        <p14:creationId xmlns:p14="http://schemas.microsoft.com/office/powerpoint/2010/main" val="1928055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FE4F-121E-B846-ED2D-3B81B431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54F6-90FB-8C6E-AF86-6026D5AA2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2220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Overall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FD7F0-4BE0-3E0A-F01C-D5424A635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054C39-8572-EF1E-CCDB-0273F1DE4DC4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CD3D2C-C339-0B95-5BC4-934E9183D7AC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21E2AF-BE6B-3540-FDBA-F4B099D52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2.3 User Classes and Characteristics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 </a:t>
            </a:r>
            <a:endParaRPr lang="en-IN" dirty="0"/>
          </a:p>
          <a:p>
            <a:pPr marL="0" indent="0">
              <a:spcBef>
                <a:spcPts val="0"/>
              </a:spcBef>
              <a:buNone/>
            </a:pPr>
            <a:r>
              <a:rPr lang="en-IN" sz="2200" b="1" dirty="0"/>
              <a:t>1. Students / Club Members</a:t>
            </a:r>
            <a:endParaRPr lang="en-IN" sz="2200" dirty="0"/>
          </a:p>
          <a:p>
            <a:r>
              <a:rPr lang="en-IN" sz="2200" dirty="0"/>
              <a:t>Request equipment booking</a:t>
            </a:r>
          </a:p>
          <a:p>
            <a:r>
              <a:rPr lang="en-IN" sz="2200" dirty="0"/>
              <a:t>View available equipment</a:t>
            </a:r>
          </a:p>
          <a:p>
            <a:r>
              <a:rPr lang="en-IN" sz="2200" dirty="0"/>
              <a:t>Cancel bookings</a:t>
            </a:r>
          </a:p>
          <a:p>
            <a:pPr marL="0" indent="0">
              <a:buNone/>
            </a:pPr>
            <a:r>
              <a:rPr lang="en-IN" sz="2200" b="1" dirty="0"/>
              <a:t>2. Admin / Faculty</a:t>
            </a:r>
            <a:endParaRPr lang="en-IN" sz="2200" dirty="0"/>
          </a:p>
          <a:p>
            <a:r>
              <a:rPr lang="en-IN" sz="2200" dirty="0"/>
              <a:t>Monitor equipment usage</a:t>
            </a:r>
          </a:p>
          <a:p>
            <a:r>
              <a:rPr lang="en-IN" sz="2200" dirty="0"/>
              <a:t>View booking records</a:t>
            </a:r>
          </a:p>
          <a:p>
            <a:r>
              <a:rPr lang="en-IN" sz="2200" dirty="0"/>
              <a:t>Manage equipment inventory</a:t>
            </a:r>
          </a:p>
        </p:txBody>
      </p:sp>
    </p:spTree>
    <p:extLst>
      <p:ext uri="{BB962C8B-B14F-4D97-AF65-F5344CB8AC3E}">
        <p14:creationId xmlns:p14="http://schemas.microsoft.com/office/powerpoint/2010/main" val="732767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64631-4439-6C0A-D112-589C3E500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FCEB-919A-D987-FF1B-2DEC2332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2220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Overall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FA7BB-5CF1-1283-8C00-3F7945804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7B7E4D-5B2D-F4AE-21DE-2AE4487B36CC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259BBE-C194-A7C0-C585-4629BAA51940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DCE92E-8ECE-DD58-DC76-521A5CB13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2.4 Operating Environment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 </a:t>
            </a:r>
            <a:endParaRPr lang="en-IN" dirty="0"/>
          </a:p>
          <a:p>
            <a:pPr marL="0" indent="0">
              <a:spcBef>
                <a:spcPts val="0"/>
              </a:spcBef>
              <a:buNone/>
            </a:pPr>
            <a:r>
              <a:rPr lang="en-IN" sz="2200" dirty="0"/>
              <a:t>The system operates in the following environment:</a:t>
            </a:r>
          </a:p>
          <a:p>
            <a:r>
              <a:rPr lang="en-IN" sz="2200" dirty="0"/>
              <a:t>Backend: Python (</a:t>
            </a:r>
            <a:r>
              <a:rPr lang="en-IN" sz="2200" dirty="0" err="1"/>
              <a:t>FastAPI</a:t>
            </a:r>
            <a:r>
              <a:rPr lang="en-IN" sz="2200" dirty="0"/>
              <a:t>)</a:t>
            </a:r>
          </a:p>
          <a:p>
            <a:r>
              <a:rPr lang="en-IN" sz="2200" dirty="0"/>
              <a:t>Database: PostgreSQL</a:t>
            </a:r>
          </a:p>
          <a:p>
            <a:r>
              <a:rPr lang="en-IN" sz="2200" dirty="0"/>
              <a:t>Frontend: React + Vite</a:t>
            </a:r>
          </a:p>
          <a:p>
            <a:r>
              <a:rPr lang="en-IN" sz="2200" dirty="0"/>
              <a:t>AI Integration: OpenAI API</a:t>
            </a:r>
          </a:p>
          <a:p>
            <a:r>
              <a:rPr lang="en-IN" sz="2200" dirty="0"/>
              <a:t>Messaging Platform: Telegram Bot</a:t>
            </a:r>
          </a:p>
          <a:p>
            <a:r>
              <a:rPr lang="en-IN" sz="2200" dirty="0"/>
              <a:t>Operating System: Windows / Linux / Cloud server</a:t>
            </a:r>
          </a:p>
        </p:txBody>
      </p:sp>
    </p:spTree>
    <p:extLst>
      <p:ext uri="{BB962C8B-B14F-4D97-AF65-F5344CB8AC3E}">
        <p14:creationId xmlns:p14="http://schemas.microsoft.com/office/powerpoint/2010/main" val="4205647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9B90B-78F1-12A0-71D8-9EB1D6BA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E3E7-E3CA-96B6-0404-FF703EEE5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2220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Overall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FD3AC-FA9A-E8CC-F612-46E989506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11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69DE9B-66E2-B0CE-19A2-3731733CC122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7BDEB4-317E-CAF2-205C-4E13C469FD15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6977E-2094-E0C0-CC91-CCE9F7543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2.5 Design Constraints</a:t>
            </a:r>
            <a:endParaRPr lang="en-IN" dirty="0"/>
          </a:p>
          <a:p>
            <a:pPr marL="0" lvl="0" indent="0">
              <a:buNone/>
            </a:pPr>
            <a:r>
              <a:rPr lang="en-IN" sz="2200" dirty="0"/>
              <a:t>The system must follow the following constraints:</a:t>
            </a:r>
          </a:p>
          <a:p>
            <a:r>
              <a:rPr lang="en-IN" sz="2200" dirty="0"/>
              <a:t>Must support real-time booking validation</a:t>
            </a:r>
          </a:p>
          <a:p>
            <a:r>
              <a:rPr lang="en-IN" sz="2200" dirty="0"/>
              <a:t>Must prevent double bookings</a:t>
            </a:r>
          </a:p>
          <a:p>
            <a:r>
              <a:rPr lang="en-IN" sz="2200" dirty="0"/>
              <a:t>Must maintain database integrity</a:t>
            </a:r>
          </a:p>
          <a:p>
            <a:r>
              <a:rPr lang="en-IN" sz="2200" dirty="0"/>
              <a:t>Must support multi-user access</a:t>
            </a:r>
          </a:p>
          <a:p>
            <a:r>
              <a:rPr lang="en-IN" sz="2200" dirty="0"/>
              <a:t>Must integrate with OpenAI APIs</a:t>
            </a:r>
          </a:p>
        </p:txBody>
      </p:sp>
    </p:spTree>
    <p:extLst>
      <p:ext uri="{BB962C8B-B14F-4D97-AF65-F5344CB8AC3E}">
        <p14:creationId xmlns:p14="http://schemas.microsoft.com/office/powerpoint/2010/main" val="3093520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0CD6D-A9E3-8BE5-608E-5DA7C60C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AFDC-0C69-93B8-C168-192E938C8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2220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Overall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8496F-519B-1F00-05CC-BFC21CE7E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334368-1D00-232E-9637-F1A30D698F8A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C2D5F2-BF63-C0D5-D551-284A50EAD97B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F98AA-EB8A-1B1B-738E-398FD899C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2.6 Assumptions and Dependencies</a:t>
            </a:r>
            <a:endParaRPr lang="en-IN" dirty="0"/>
          </a:p>
          <a:p>
            <a:pPr marL="0" indent="0">
              <a:buNone/>
            </a:pPr>
            <a:r>
              <a:rPr lang="en-IN" sz="2200" b="1" dirty="0"/>
              <a:t>Assumptions:</a:t>
            </a:r>
            <a:endParaRPr lang="en-IN" sz="2200" dirty="0"/>
          </a:p>
          <a:p>
            <a:r>
              <a:rPr lang="en-IN" sz="2200" dirty="0"/>
              <a:t>Users have internet connectivity</a:t>
            </a:r>
          </a:p>
          <a:p>
            <a:r>
              <a:rPr lang="en-IN" sz="2200" dirty="0"/>
              <a:t>Telegram platform is available</a:t>
            </a:r>
          </a:p>
          <a:p>
            <a:r>
              <a:rPr lang="en-IN" sz="2200" dirty="0"/>
              <a:t>Equipment database is maintained by administrators</a:t>
            </a:r>
          </a:p>
          <a:p>
            <a:pPr marL="0" indent="0">
              <a:spcBef>
                <a:spcPts val="0"/>
              </a:spcBef>
              <a:buNone/>
            </a:pP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Dependencies:</a:t>
            </a:r>
            <a:endParaRPr lang="en-IN" sz="2200" dirty="0"/>
          </a:p>
          <a:p>
            <a:r>
              <a:rPr lang="en-IN" sz="2200" dirty="0"/>
              <a:t>OpenAI API availability</a:t>
            </a:r>
          </a:p>
          <a:p>
            <a:r>
              <a:rPr lang="en-IN" sz="2200" dirty="0"/>
              <a:t>Database server availability</a:t>
            </a:r>
          </a:p>
          <a:p>
            <a:r>
              <a:rPr lang="en-IN" sz="2200" dirty="0"/>
              <a:t>Web hosting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667394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E248-71B8-1FAF-3C44-FD27B1288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48FA-C902-D24E-DF98-C2D5E8962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222087"/>
            <a:ext cx="10515600" cy="13255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C00000"/>
              </a:buClr>
            </a:pPr>
            <a:r>
              <a:rPr lang="en-US" sz="3600" dirty="0">
                <a:ea typeface="Times New Roman" panose="02020603050405020304" pitchFamily="18" charset="0"/>
              </a:rPr>
              <a:t>System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DDB38-04EE-DB06-FDC0-0B813CAF5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13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82B935-46E9-4C69-7351-FEFBF4CFB1E5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7129AE-E01D-F6CD-8A5C-200542B35B24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A0913-8BB1-0D7E-86D5-525396382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3.1 Equipment Listing</a:t>
            </a:r>
            <a:endParaRPr lang="en-IN" dirty="0"/>
          </a:p>
          <a:p>
            <a:pPr marL="0" indent="0">
              <a:buNone/>
            </a:pPr>
            <a:r>
              <a:rPr lang="en-IN" sz="2200" b="1" dirty="0"/>
              <a:t>Description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Allows users to view available equipment.</a:t>
            </a:r>
          </a:p>
          <a:p>
            <a:pPr marL="0" indent="0">
              <a:buNone/>
            </a:pPr>
            <a:r>
              <a:rPr lang="en-IN" sz="2200" b="1" dirty="0"/>
              <a:t>Inputs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User request: "List available equipment"</a:t>
            </a:r>
          </a:p>
          <a:p>
            <a:pPr marL="0" indent="0">
              <a:buNone/>
            </a:pPr>
            <a:r>
              <a:rPr lang="en-IN" sz="2200" b="1" dirty="0"/>
              <a:t>Output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List of equipment items.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139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421A-5DED-4004-47B0-4CAA2D0CB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20FE-5441-121F-F54D-3BB50CD7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222087"/>
            <a:ext cx="10515600" cy="13255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C00000"/>
              </a:buClr>
            </a:pPr>
            <a:r>
              <a:rPr lang="en-US" sz="3600" dirty="0">
                <a:ea typeface="Times New Roman" panose="02020603050405020304" pitchFamily="18" charset="0"/>
              </a:rPr>
              <a:t>System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D6BED-10C6-9BC6-BCA2-8C4F755C6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56733E-9093-0CE2-547E-EA1FAA701A3F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D7139E-755C-DCD1-ADD9-C4D2B366DA26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FF00D-5E3E-1354-1C1D-4385E2E04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3.2 Equipment Availability Check</a:t>
            </a:r>
            <a:endParaRPr lang="en-IN" dirty="0"/>
          </a:p>
          <a:p>
            <a:pPr marL="0" indent="0">
              <a:buNone/>
            </a:pPr>
            <a:r>
              <a:rPr lang="en-IN" sz="2200" b="1" dirty="0"/>
              <a:t>Description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Allows users to check whether equipment is available for a specific time slot.</a:t>
            </a:r>
          </a:p>
          <a:p>
            <a:pPr marL="0" indent="0">
              <a:buNone/>
            </a:pPr>
            <a:r>
              <a:rPr lang="en-IN" sz="2200" b="1" dirty="0"/>
              <a:t>Inputs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Equipment name, date, start time, end time.</a:t>
            </a:r>
          </a:p>
          <a:p>
            <a:pPr marL="0" indent="0">
              <a:buNone/>
            </a:pPr>
            <a:r>
              <a:rPr lang="en-IN" sz="2200" b="1" dirty="0"/>
              <a:t>Output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Availability status.</a:t>
            </a:r>
          </a:p>
        </p:txBody>
      </p:sp>
    </p:spTree>
    <p:extLst>
      <p:ext uri="{BB962C8B-B14F-4D97-AF65-F5344CB8AC3E}">
        <p14:creationId xmlns:p14="http://schemas.microsoft.com/office/powerpoint/2010/main" val="1971523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3AAA-86A6-D65E-B93A-76B4B85DB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F48D-FC69-6007-8775-555486C9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222087"/>
            <a:ext cx="10515600" cy="13255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C00000"/>
              </a:buClr>
            </a:pPr>
            <a:r>
              <a:rPr lang="en-US" sz="3600" dirty="0">
                <a:ea typeface="Times New Roman" panose="02020603050405020304" pitchFamily="18" charset="0"/>
              </a:rPr>
              <a:t>System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E5141-8EDC-3DB9-81A4-F1EFE364C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15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6D7E3B-49B2-79C0-C89C-B92FF9D8F899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3994D5-E73D-3AD0-6257-49651B78F083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42CC98-0D4F-A48A-540D-15A62A188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3.3 Equipment Booking</a:t>
            </a:r>
            <a:endParaRPr lang="en-IN" dirty="0"/>
          </a:p>
          <a:p>
            <a:pPr marL="0" indent="0">
              <a:buNone/>
            </a:pPr>
            <a:r>
              <a:rPr lang="en-IN" sz="2200" b="1" dirty="0"/>
              <a:t>Description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Allows users to book equipment for a specific time period.</a:t>
            </a:r>
          </a:p>
          <a:p>
            <a:pPr marL="0" indent="0">
              <a:buNone/>
            </a:pPr>
            <a:r>
              <a:rPr lang="en-IN" sz="2200" b="1" dirty="0"/>
              <a:t>Process</a:t>
            </a:r>
            <a:endParaRPr lang="en-IN" sz="2200" dirty="0"/>
          </a:p>
          <a:p>
            <a:r>
              <a:rPr lang="en-IN" sz="2200" dirty="0"/>
              <a:t>User sends request</a:t>
            </a:r>
          </a:p>
          <a:p>
            <a:r>
              <a:rPr lang="en-IN" sz="2200" dirty="0"/>
              <a:t>AI checks availability</a:t>
            </a:r>
          </a:p>
          <a:p>
            <a:r>
              <a:rPr lang="en-IN" sz="2200" dirty="0"/>
              <a:t>System verifies conflicts</a:t>
            </a:r>
          </a:p>
          <a:p>
            <a:r>
              <a:rPr lang="en-IN" sz="2200" dirty="0"/>
              <a:t>Booking stored in database</a:t>
            </a:r>
          </a:p>
          <a:p>
            <a:r>
              <a:rPr lang="en-IN" sz="2200" dirty="0"/>
              <a:t>Booking confirmation generated</a:t>
            </a:r>
          </a:p>
        </p:txBody>
      </p:sp>
    </p:spTree>
    <p:extLst>
      <p:ext uri="{BB962C8B-B14F-4D97-AF65-F5344CB8AC3E}">
        <p14:creationId xmlns:p14="http://schemas.microsoft.com/office/powerpoint/2010/main" val="1805751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AE1A0-A72D-52AD-78BD-F62F0D5E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F55A-69A8-AB7B-82D9-833291C1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222087"/>
            <a:ext cx="10515600" cy="13255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C00000"/>
              </a:buClr>
            </a:pPr>
            <a:r>
              <a:rPr lang="en-US" sz="3600" dirty="0">
                <a:ea typeface="Times New Roman" panose="02020603050405020304" pitchFamily="18" charset="0"/>
              </a:rPr>
              <a:t>System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3E366-83D2-EA6C-D453-8A6A1ECDB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1E27F7-77F5-7E5F-91F2-D1E50466E4E3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B00B17-3F60-0DA7-0B40-D2B27B24A71F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C57EC-3838-971C-7EEA-3D15881AD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3.4 Booking Cancellation</a:t>
            </a:r>
            <a:endParaRPr lang="en-IN" dirty="0"/>
          </a:p>
          <a:p>
            <a:pPr marL="0" indent="0">
              <a:buNone/>
            </a:pPr>
            <a:r>
              <a:rPr lang="en-IN" sz="2200" dirty="0"/>
              <a:t>Users can cancel existing bookings before the scheduled time.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b="1" dirty="0"/>
              <a:t>3.5 Equipment Return</a:t>
            </a:r>
            <a:endParaRPr lang="en-IN" dirty="0"/>
          </a:p>
          <a:p>
            <a:pPr marL="0" indent="0">
              <a:buNone/>
            </a:pPr>
            <a:r>
              <a:rPr lang="en-IN" sz="2200" dirty="0"/>
              <a:t>Users confirm when equipment is returned after usage.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b="1" dirty="0"/>
              <a:t>3.6 Conflict Detection</a:t>
            </a:r>
            <a:endParaRPr lang="en-IN" dirty="0"/>
          </a:p>
          <a:p>
            <a:pPr marL="0" indent="0">
              <a:buNone/>
            </a:pPr>
            <a:r>
              <a:rPr lang="en-IN" sz="2200" dirty="0"/>
              <a:t>The system prevents overlapping bookings using interval logic:</a:t>
            </a:r>
          </a:p>
          <a:p>
            <a:pPr marL="0" indent="0">
              <a:buNone/>
            </a:pPr>
            <a:r>
              <a:rPr lang="en-IN" sz="2200" dirty="0"/>
              <a:t>start1 &lt; end2 AND end1 &gt; start2</a:t>
            </a:r>
          </a:p>
        </p:txBody>
      </p:sp>
    </p:spTree>
    <p:extLst>
      <p:ext uri="{BB962C8B-B14F-4D97-AF65-F5344CB8AC3E}">
        <p14:creationId xmlns:p14="http://schemas.microsoft.com/office/powerpoint/2010/main" val="175630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B5C5-D552-F85D-35DD-0DCE06D2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382DC-1872-B4BD-3674-26D6A642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222087"/>
            <a:ext cx="10515600" cy="13255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C00000"/>
              </a:buClr>
            </a:pPr>
            <a:r>
              <a:rPr lang="en-US" sz="3600" dirty="0">
                <a:ea typeface="Times New Roman" panose="02020603050405020304" pitchFamily="18" charset="0"/>
              </a:rPr>
              <a:t>External Interface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B5F57-7731-5FC6-3822-2169A8C30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17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727B74-3878-4520-C7E4-86FFF8ADA92D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5EC517-7ABC-44D2-4ED8-3256EB67FA78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9E12B-686D-8781-9D17-601774EFC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4.1 User Interface</a:t>
            </a:r>
            <a:endParaRPr lang="en-IN" dirty="0"/>
          </a:p>
          <a:p>
            <a:pPr marL="0" indent="0">
              <a:buNone/>
            </a:pPr>
            <a:r>
              <a:rPr lang="en-IN" sz="2200" dirty="0"/>
              <a:t>The system provides two interfaces:</a:t>
            </a:r>
          </a:p>
          <a:p>
            <a:pPr marL="0" indent="0">
              <a:buNone/>
            </a:pPr>
            <a:r>
              <a:rPr lang="en-IN" sz="2200" b="1" dirty="0"/>
              <a:t>Web Interface</a:t>
            </a:r>
            <a:endParaRPr lang="en-IN" sz="2200" dirty="0"/>
          </a:p>
          <a:p>
            <a:pPr marL="0" lvl="0" indent="0">
              <a:buNone/>
            </a:pPr>
            <a:r>
              <a:rPr lang="en-IN" sz="2200" dirty="0"/>
              <a:t>React-based dashboard</a:t>
            </a:r>
          </a:p>
          <a:p>
            <a:pPr marL="0" lvl="0" indent="0">
              <a:buNone/>
            </a:pPr>
            <a:r>
              <a:rPr lang="en-IN" sz="2200" dirty="0"/>
              <a:t>Equipment management</a:t>
            </a:r>
          </a:p>
          <a:p>
            <a:pPr marL="0" lvl="0" indent="0">
              <a:buNone/>
            </a:pPr>
            <a:r>
              <a:rPr lang="en-IN" sz="2200" dirty="0"/>
              <a:t>Booking monitoring</a:t>
            </a:r>
          </a:p>
          <a:p>
            <a:pPr marL="0" indent="0">
              <a:buNone/>
            </a:pPr>
            <a:r>
              <a:rPr lang="en-IN" sz="2200" b="1" dirty="0"/>
              <a:t>Telegram Interface</a:t>
            </a:r>
            <a:endParaRPr lang="en-IN" sz="2200" dirty="0"/>
          </a:p>
          <a:p>
            <a:pPr marL="0" lvl="0" indent="0">
              <a:buNone/>
            </a:pPr>
            <a:r>
              <a:rPr lang="en-IN" sz="2200" dirty="0"/>
              <a:t>Conversational AI interaction</a:t>
            </a:r>
          </a:p>
          <a:p>
            <a:pPr marL="0" lvl="0" indent="0">
              <a:buNone/>
            </a:pPr>
            <a:r>
              <a:rPr lang="en-IN" sz="2200" dirty="0"/>
              <a:t>Natural language booking commands</a:t>
            </a:r>
          </a:p>
        </p:txBody>
      </p:sp>
    </p:spTree>
    <p:extLst>
      <p:ext uri="{BB962C8B-B14F-4D97-AF65-F5344CB8AC3E}">
        <p14:creationId xmlns:p14="http://schemas.microsoft.com/office/powerpoint/2010/main" val="1515575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4FA4B-A48D-E120-5266-67B4F145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ECE9-A58A-0EE3-B79F-4C7B25429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222087"/>
            <a:ext cx="10515600" cy="13255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C00000"/>
              </a:buClr>
            </a:pPr>
            <a:r>
              <a:rPr lang="en-US" sz="3600" dirty="0">
                <a:ea typeface="Times New Roman" panose="02020603050405020304" pitchFamily="18" charset="0"/>
              </a:rPr>
              <a:t>External Interface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8300F-71DF-D865-61E2-68E1F8A8C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523890-F6DA-F996-D2CD-4111B0AF85CB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8F8559-CE52-D355-09AC-5F7AD7513E5F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7A1E7-5E3E-2C9B-A776-A82A56785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4.2 Hardware Interface</a:t>
            </a:r>
            <a:endParaRPr lang="en-IN" dirty="0"/>
          </a:p>
          <a:p>
            <a:pPr marL="0" lvl="0" indent="0">
              <a:buNone/>
            </a:pPr>
            <a:r>
              <a:rPr lang="en-IN" sz="2200" dirty="0"/>
              <a:t>Server machine for hosting backend</a:t>
            </a:r>
          </a:p>
          <a:p>
            <a:pPr marL="0" lvl="0" indent="0">
              <a:buNone/>
            </a:pPr>
            <a:r>
              <a:rPr lang="en-IN" sz="2200" dirty="0"/>
              <a:t>User devices (laptop / mobile phone)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b="1" dirty="0"/>
              <a:t>4.3 Software Interface</a:t>
            </a:r>
            <a:endParaRPr lang="en-IN" dirty="0"/>
          </a:p>
          <a:p>
            <a:pPr marL="0" lvl="0" indent="0">
              <a:buNone/>
            </a:pPr>
            <a:r>
              <a:rPr lang="en-IN" sz="2200" dirty="0"/>
              <a:t>OpenAI API</a:t>
            </a:r>
          </a:p>
          <a:p>
            <a:pPr marL="0" lvl="0" indent="0">
              <a:buNone/>
            </a:pPr>
            <a:r>
              <a:rPr lang="en-IN" sz="2200" dirty="0"/>
              <a:t>PostgreSQL Database</a:t>
            </a:r>
          </a:p>
          <a:p>
            <a:pPr marL="0" lvl="0" indent="0">
              <a:buNone/>
            </a:pPr>
            <a:r>
              <a:rPr lang="en-IN" sz="2200" dirty="0" err="1"/>
              <a:t>FastAPI</a:t>
            </a:r>
            <a:r>
              <a:rPr lang="en-IN" sz="2200" dirty="0"/>
              <a:t> backend services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81718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C44CB-7A01-FAF0-37C6-9283C6E7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BAD1-72BA-FF22-8505-2FA65DA3E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222087"/>
            <a:ext cx="10515600" cy="13255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C00000"/>
              </a:buClr>
            </a:pPr>
            <a:r>
              <a:rPr lang="en-US" sz="3600" dirty="0">
                <a:ea typeface="Times New Roman" panose="02020603050405020304" pitchFamily="18" charset="0"/>
              </a:rPr>
              <a:t>Non Functional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89969-C190-B4E1-27BF-129D4891F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19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D4926A-CAF4-8DEB-57AC-3CDD285719F2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8A2A84-E98E-E819-D018-925D4BB25FC5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E77811-7540-35ED-FC11-680A17009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5.1 Performance Requirements</a:t>
            </a:r>
            <a:endParaRPr lang="en-IN" dirty="0"/>
          </a:p>
          <a:p>
            <a:pPr marL="0" lvl="0" indent="0">
              <a:buNone/>
            </a:pPr>
            <a:r>
              <a:rPr lang="en-IN" sz="2200" dirty="0"/>
              <a:t>System should process requests within 2 seconds</a:t>
            </a:r>
          </a:p>
          <a:p>
            <a:pPr marL="0" lvl="0" indent="0">
              <a:buNone/>
            </a:pPr>
            <a:r>
              <a:rPr lang="en-IN" sz="2200" dirty="0"/>
              <a:t>Support at least 1000 users</a:t>
            </a:r>
          </a:p>
          <a:p>
            <a:pPr marL="0" indent="0">
              <a:buNone/>
            </a:pPr>
            <a:r>
              <a:rPr lang="en-IN" sz="2200" dirty="0"/>
              <a:t> </a:t>
            </a:r>
          </a:p>
          <a:p>
            <a:pPr marL="0" indent="0">
              <a:buNone/>
            </a:pPr>
            <a:r>
              <a:rPr lang="en-IN" b="1" dirty="0"/>
              <a:t>5.2 Security Requirements</a:t>
            </a:r>
            <a:endParaRPr lang="en-IN" dirty="0"/>
          </a:p>
          <a:p>
            <a:pPr marL="0" lvl="0" indent="0">
              <a:buNone/>
            </a:pPr>
            <a:r>
              <a:rPr lang="en-IN" sz="2200" dirty="0"/>
              <a:t>Authentication for admin access</a:t>
            </a:r>
          </a:p>
          <a:p>
            <a:pPr marL="0" lvl="0" indent="0">
              <a:buNone/>
            </a:pPr>
            <a:r>
              <a:rPr lang="en-IN" sz="2200" dirty="0"/>
              <a:t>Secure database storage</a:t>
            </a:r>
          </a:p>
          <a:p>
            <a:pPr marL="0" lvl="0" indent="0">
              <a:buNone/>
            </a:pPr>
            <a:r>
              <a:rPr lang="en-IN" sz="2200" dirty="0"/>
              <a:t>API protection</a:t>
            </a:r>
          </a:p>
        </p:txBody>
      </p:sp>
    </p:spTree>
    <p:extLst>
      <p:ext uri="{BB962C8B-B14F-4D97-AF65-F5344CB8AC3E}">
        <p14:creationId xmlns:p14="http://schemas.microsoft.com/office/powerpoint/2010/main" val="1752009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10DA5-CC91-B960-2F52-6B09C58F9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D8AB-68E6-98FE-8F5C-D5A9DE8F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222087"/>
            <a:ext cx="10515600" cy="132556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C00000"/>
              </a:buClr>
            </a:pPr>
            <a:r>
              <a:rPr lang="en-US" sz="3600" dirty="0">
                <a:ea typeface="Times New Roman" panose="02020603050405020304" pitchFamily="18" charset="0"/>
              </a:rPr>
              <a:t>Non Functional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EA270-8D5E-4DF4-0DD9-906A3B1EA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20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D5B09F-4CA0-8C50-6498-2902830D4A26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8ACB6B-5A5F-0C91-2E27-F4D55CBCDABD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9C75D-0DEC-82BC-2A68-091622787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5.3 Reliability</a:t>
            </a:r>
            <a:endParaRPr lang="en-IN" dirty="0"/>
          </a:p>
          <a:p>
            <a:pPr marL="0" indent="0">
              <a:buNone/>
            </a:pPr>
            <a:r>
              <a:rPr lang="en-IN" sz="2200" dirty="0"/>
              <a:t>The system must ensure consistent performance and prevent booking conflicts.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b="1" dirty="0"/>
              <a:t>5.4 Scalability</a:t>
            </a:r>
            <a:endParaRPr lang="en-IN" dirty="0"/>
          </a:p>
          <a:p>
            <a:pPr marL="0" indent="0">
              <a:buNone/>
            </a:pPr>
            <a:r>
              <a:rPr lang="en-IN" sz="2200" dirty="0"/>
              <a:t>The system should support future expansion including:</a:t>
            </a:r>
          </a:p>
          <a:p>
            <a:pPr marL="0" lvl="0" indent="0">
              <a:buNone/>
            </a:pPr>
            <a:r>
              <a:rPr lang="en-IN" sz="2200" dirty="0"/>
              <a:t>More equipment categories</a:t>
            </a:r>
          </a:p>
          <a:p>
            <a:pPr marL="0" lvl="0" indent="0">
              <a:buNone/>
            </a:pPr>
            <a:r>
              <a:rPr lang="en-IN" sz="2200" dirty="0"/>
              <a:t>More users</a:t>
            </a:r>
          </a:p>
          <a:p>
            <a:pPr marL="0" lvl="0" indent="0">
              <a:buNone/>
            </a:pPr>
            <a:r>
              <a:rPr lang="en-IN" sz="2200" dirty="0"/>
              <a:t>Multiple institutions</a:t>
            </a:r>
          </a:p>
        </p:txBody>
      </p:sp>
    </p:spTree>
    <p:extLst>
      <p:ext uri="{BB962C8B-B14F-4D97-AF65-F5344CB8AC3E}">
        <p14:creationId xmlns:p14="http://schemas.microsoft.com/office/powerpoint/2010/main" val="2690047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592B-AE73-3E8D-6323-EDD247802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962A-0D0D-21A8-3F4B-B03A487B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2220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Future Enhancements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DC75-FCCE-FA66-BA47-725989AC3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21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D39189-C8FF-8018-9BB4-582A61474694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B9C385-CA4D-9C14-54A0-6D853A1ED6B7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E9CF5-236A-5ED9-71D4-B1EAA7298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IN" b="1" dirty="0"/>
              <a:t>Future Enhancements</a:t>
            </a:r>
            <a:endParaRPr lang="en-IN" dirty="0"/>
          </a:p>
          <a:p>
            <a:pPr marL="0" indent="0">
              <a:buNone/>
            </a:pPr>
            <a:r>
              <a:rPr lang="en-IN" sz="2200" dirty="0"/>
              <a:t>Possible improvements include:</a:t>
            </a:r>
          </a:p>
          <a:p>
            <a:r>
              <a:rPr lang="en-IN" sz="2200" dirty="0"/>
              <a:t>Mobile application</a:t>
            </a:r>
          </a:p>
          <a:p>
            <a:r>
              <a:rPr lang="en-IN" sz="2200" dirty="0"/>
              <a:t>QR code equipment tracking</a:t>
            </a:r>
          </a:p>
          <a:p>
            <a:r>
              <a:rPr lang="en-IN" sz="2200" dirty="0"/>
              <a:t>Notification reminders</a:t>
            </a:r>
          </a:p>
          <a:p>
            <a:r>
              <a:rPr lang="en-IN" sz="2200" dirty="0"/>
              <a:t>Analytics dashboard</a:t>
            </a:r>
          </a:p>
          <a:p>
            <a:r>
              <a:rPr lang="en-IN" sz="2200" dirty="0"/>
              <a:t>Multi-college deployment</a:t>
            </a:r>
          </a:p>
          <a:p>
            <a:r>
              <a:rPr lang="en-IN" sz="2200" b="1" dirty="0"/>
              <a:t> 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906972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9FDB-1CE4-B54D-AA67-2E13E599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8AED-7D47-F644-5438-5618F6B9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4" y="2220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62E6B-68D7-5A64-E58B-B2D02F7F5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22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27F27E-151A-C35F-9BF8-A10D20A8583F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CC981-81C3-E573-D0E5-60301F070319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C1525-5713-C142-9B6E-AB13C0FCE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IN" b="1" dirty="0"/>
              <a:t>Conclusion</a:t>
            </a:r>
            <a:endParaRPr lang="en-IN" dirty="0"/>
          </a:p>
          <a:p>
            <a:pPr marL="0" indent="0">
              <a:buNone/>
            </a:pPr>
            <a:r>
              <a:rPr lang="en-IN" sz="2200" dirty="0" err="1"/>
              <a:t>GearGenix</a:t>
            </a:r>
            <a:r>
              <a:rPr lang="en-IN" sz="2200" dirty="0"/>
              <a:t> provides an AI-powered solution to manage shared equipment efficiently within educational institutions. By integrating conversational AI, real-time conflict detection, and centralized booking management, the system eliminates manual coordination issues and improves transparency.</a:t>
            </a:r>
          </a:p>
          <a:p>
            <a:pPr marL="0" indent="0">
              <a:buNone/>
            </a:pPr>
            <a:r>
              <a:rPr lang="en-IN" sz="2200" dirty="0"/>
              <a:t>The implementation of this system can significantly improve resource utilization and reduce administrative workload in colleges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864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60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ysClr val="window" lastClr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cap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617A8B78-F622-4C57-A45F-FE0E80141807}" vid="{1E4079A0-7BD4-493D-B6C3-8779881B8C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1873</TotalTime>
  <Words>916</Words>
  <Application>Microsoft Office PowerPoint</Application>
  <PresentationFormat>Widescreen</PresentationFormat>
  <Paragraphs>225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Metropolis</vt:lpstr>
      <vt:lpstr>Metropolis Semi Bold</vt:lpstr>
      <vt:lpstr>Times New Roman</vt:lpstr>
      <vt:lpstr>Wingdings</vt:lpstr>
      <vt:lpstr>Zilla Slab</vt:lpstr>
      <vt:lpstr>Office Theme</vt:lpstr>
      <vt:lpstr>GEARGENIX Advanced Campus Gear Control</vt:lpstr>
      <vt:lpstr>Contents</vt:lpstr>
      <vt:lpstr>Introduction</vt:lpstr>
      <vt:lpstr>Introduction</vt:lpstr>
      <vt:lpstr>Introduction</vt:lpstr>
      <vt:lpstr>Introduction</vt:lpstr>
      <vt:lpstr>Overall Description</vt:lpstr>
      <vt:lpstr>Overall Description</vt:lpstr>
      <vt:lpstr>Overall Description</vt:lpstr>
      <vt:lpstr>Overall Description</vt:lpstr>
      <vt:lpstr>Overall Description</vt:lpstr>
      <vt:lpstr>Overall Description</vt:lpstr>
      <vt:lpstr>System Features</vt:lpstr>
      <vt:lpstr>System Features</vt:lpstr>
      <vt:lpstr>System Features</vt:lpstr>
      <vt:lpstr>System Features</vt:lpstr>
      <vt:lpstr>External Interface Requirements</vt:lpstr>
      <vt:lpstr>External Interface Requirements</vt:lpstr>
      <vt:lpstr>Non Functional Requirements</vt:lpstr>
      <vt:lpstr>Non Functional Requirements</vt:lpstr>
      <vt:lpstr>Future Enhancements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Text Here</dc:title>
  <dc:creator>Shantilal Bhayal</dc:creator>
  <cp:lastModifiedBy>Anshu Agrawal</cp:lastModifiedBy>
  <cp:revision>38</cp:revision>
  <dcterms:created xsi:type="dcterms:W3CDTF">2025-10-08T00:30:40Z</dcterms:created>
  <dcterms:modified xsi:type="dcterms:W3CDTF">2026-03-06T06:21:05Z</dcterms:modified>
</cp:coreProperties>
</file>